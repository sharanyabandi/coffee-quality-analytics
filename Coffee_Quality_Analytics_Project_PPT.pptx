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CE0BAA9-F160-4714-A3C3-A2CEBB8D5FD2}" v="1" dt="2026-10-02T13:49:26.53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ni Teja" userId="1c62ac58e9914d57" providerId="LiveId" clId="{F742E588-677B-4046-AE3E-32D74EAE8C43}"/>
    <pc:docChg chg="custSel delSld modSld">
      <pc:chgData name="Mani Teja" userId="1c62ac58e9914d57" providerId="LiveId" clId="{F742E588-677B-4046-AE3E-32D74EAE8C43}" dt="2026-10-02T13:50:42.201" v="201" actId="20577"/>
      <pc:docMkLst>
        <pc:docMk/>
      </pc:docMkLst>
      <pc:sldChg chg="addSp delSp modSp mod">
        <pc:chgData name="Mani Teja" userId="1c62ac58e9914d57" providerId="LiveId" clId="{F742E588-677B-4046-AE3E-32D74EAE8C43}" dt="2026-10-02T13:50:42.201" v="201" actId="20577"/>
        <pc:sldMkLst>
          <pc:docMk/>
          <pc:sldMk cId="0" sldId="256"/>
        </pc:sldMkLst>
        <pc:spChg chg="mod">
          <ac:chgData name="Mani Teja" userId="1c62ac58e9914d57" providerId="LiveId" clId="{F742E588-677B-4046-AE3E-32D74EAE8C43}" dt="2026-10-02T13:48:51.033" v="141" actId="1076"/>
          <ac:spMkLst>
            <pc:docMk/>
            <pc:sldMk cId="0" sldId="256"/>
            <ac:spMk id="2" creationId="{00000000-0000-0000-0000-000000000000}"/>
          </ac:spMkLst>
        </pc:spChg>
        <pc:spChg chg="mod">
          <ac:chgData name="Mani Teja" userId="1c62ac58e9914d57" providerId="LiveId" clId="{F742E588-677B-4046-AE3E-32D74EAE8C43}" dt="2026-10-02T13:00:04.547" v="19" actId="1076"/>
          <ac:spMkLst>
            <pc:docMk/>
            <pc:sldMk cId="0" sldId="256"/>
            <ac:spMk id="4" creationId="{00000000-0000-0000-0000-000000000000}"/>
          </ac:spMkLst>
        </pc:spChg>
        <pc:spChg chg="mod">
          <ac:chgData name="Mani Teja" userId="1c62ac58e9914d57" providerId="LiveId" clId="{F742E588-677B-4046-AE3E-32D74EAE8C43}" dt="2026-10-02T13:50:18.051" v="197" actId="14100"/>
          <ac:spMkLst>
            <pc:docMk/>
            <pc:sldMk cId="0" sldId="256"/>
            <ac:spMk id="5" creationId="{00000000-0000-0000-0000-000000000000}"/>
          </ac:spMkLst>
        </pc:spChg>
        <pc:spChg chg="del">
          <ac:chgData name="Mani Teja" userId="1c62ac58e9914d57" providerId="LiveId" clId="{F742E588-677B-4046-AE3E-32D74EAE8C43}" dt="2026-10-02T12:57:52.563" v="0" actId="478"/>
          <ac:spMkLst>
            <pc:docMk/>
            <pc:sldMk cId="0" sldId="256"/>
            <ac:spMk id="6" creationId="{00000000-0000-0000-0000-000000000000}"/>
          </ac:spMkLst>
        </pc:spChg>
        <pc:spChg chg="add mod">
          <ac:chgData name="Mani Teja" userId="1c62ac58e9914d57" providerId="LiveId" clId="{F742E588-677B-4046-AE3E-32D74EAE8C43}" dt="2026-10-02T13:50:42.201" v="201" actId="20577"/>
          <ac:spMkLst>
            <pc:docMk/>
            <pc:sldMk cId="0" sldId="256"/>
            <ac:spMk id="8" creationId="{98A4392A-1670-FB1F-A898-41356E506B38}"/>
          </ac:spMkLst>
        </pc:spChg>
      </pc:sldChg>
      <pc:sldChg chg="delSp mod">
        <pc:chgData name="Mani Teja" userId="1c62ac58e9914d57" providerId="LiveId" clId="{F742E588-677B-4046-AE3E-32D74EAE8C43}" dt="2026-10-02T12:59:26.375" v="7" actId="478"/>
        <pc:sldMkLst>
          <pc:docMk/>
          <pc:sldMk cId="0" sldId="257"/>
        </pc:sldMkLst>
        <pc:spChg chg="del">
          <ac:chgData name="Mani Teja" userId="1c62ac58e9914d57" providerId="LiveId" clId="{F742E588-677B-4046-AE3E-32D74EAE8C43}" dt="2026-10-02T12:59:26.375" v="7" actId="478"/>
          <ac:spMkLst>
            <pc:docMk/>
            <pc:sldMk cId="0" sldId="257"/>
            <ac:spMk id="4" creationId="{00000000-0000-0000-0000-000000000000}"/>
          </ac:spMkLst>
        </pc:spChg>
        <pc:spChg chg="del">
          <ac:chgData name="Mani Teja" userId="1c62ac58e9914d57" providerId="LiveId" clId="{F742E588-677B-4046-AE3E-32D74EAE8C43}" dt="2026-10-02T12:57:58.784" v="1" actId="478"/>
          <ac:spMkLst>
            <pc:docMk/>
            <pc:sldMk cId="0" sldId="257"/>
            <ac:spMk id="6" creationId="{00000000-0000-0000-0000-000000000000}"/>
          </ac:spMkLst>
        </pc:spChg>
      </pc:sldChg>
      <pc:sldChg chg="delSp mod">
        <pc:chgData name="Mani Teja" userId="1c62ac58e9914d57" providerId="LiveId" clId="{F742E588-677B-4046-AE3E-32D74EAE8C43}" dt="2026-10-02T12:58:03.737" v="2" actId="478"/>
        <pc:sldMkLst>
          <pc:docMk/>
          <pc:sldMk cId="0" sldId="258"/>
        </pc:sldMkLst>
        <pc:spChg chg="del">
          <ac:chgData name="Mani Teja" userId="1c62ac58e9914d57" providerId="LiveId" clId="{F742E588-677B-4046-AE3E-32D74EAE8C43}" dt="2026-10-02T12:58:03.737" v="2" actId="478"/>
          <ac:spMkLst>
            <pc:docMk/>
            <pc:sldMk cId="0" sldId="258"/>
            <ac:spMk id="11" creationId="{00000000-0000-0000-0000-000000000000}"/>
          </ac:spMkLst>
        </pc:spChg>
      </pc:sldChg>
      <pc:sldChg chg="delSp modSp mod">
        <pc:chgData name="Mani Teja" userId="1c62ac58e9914d57" providerId="LiveId" clId="{F742E588-677B-4046-AE3E-32D74EAE8C43}" dt="2026-10-02T13:00:54.867" v="24" actId="478"/>
        <pc:sldMkLst>
          <pc:docMk/>
          <pc:sldMk cId="0" sldId="259"/>
        </pc:sldMkLst>
        <pc:spChg chg="del mod">
          <ac:chgData name="Mani Teja" userId="1c62ac58e9914d57" providerId="LiveId" clId="{F742E588-677B-4046-AE3E-32D74EAE8C43}" dt="2026-10-02T12:59:20.602" v="6" actId="478"/>
          <ac:spMkLst>
            <pc:docMk/>
            <pc:sldMk cId="0" sldId="259"/>
            <ac:spMk id="4" creationId="{00000000-0000-0000-0000-000000000000}"/>
          </ac:spMkLst>
        </pc:spChg>
        <pc:spChg chg="del">
          <ac:chgData name="Mani Teja" userId="1c62ac58e9914d57" providerId="LiveId" clId="{F742E588-677B-4046-AE3E-32D74EAE8C43}" dt="2026-10-02T13:00:54.867" v="24" actId="478"/>
          <ac:spMkLst>
            <pc:docMk/>
            <pc:sldMk cId="0" sldId="259"/>
            <ac:spMk id="11" creationId="{00000000-0000-0000-0000-000000000000}"/>
          </ac:spMkLst>
        </pc:spChg>
        <pc:spChg chg="del">
          <ac:chgData name="Mani Teja" userId="1c62ac58e9914d57" providerId="LiveId" clId="{F742E588-677B-4046-AE3E-32D74EAE8C43}" dt="2026-10-02T12:58:52.655" v="3" actId="478"/>
          <ac:spMkLst>
            <pc:docMk/>
            <pc:sldMk cId="0" sldId="259"/>
            <ac:spMk id="12" creationId="{00000000-0000-0000-0000-000000000000}"/>
          </ac:spMkLst>
        </pc:spChg>
      </pc:sldChg>
      <pc:sldChg chg="addSp delSp modSp mod">
        <pc:chgData name="Mani Teja" userId="1c62ac58e9914d57" providerId="LiveId" clId="{F742E588-677B-4046-AE3E-32D74EAE8C43}" dt="2026-10-02T13:27:47.848" v="66" actId="14100"/>
        <pc:sldMkLst>
          <pc:docMk/>
          <pc:sldMk cId="0" sldId="260"/>
        </pc:sldMkLst>
        <pc:spChg chg="del">
          <ac:chgData name="Mani Teja" userId="1c62ac58e9914d57" providerId="LiveId" clId="{F742E588-677B-4046-AE3E-32D74EAE8C43}" dt="2026-10-02T13:01:19.271" v="28" actId="478"/>
          <ac:spMkLst>
            <pc:docMk/>
            <pc:sldMk cId="0" sldId="260"/>
            <ac:spMk id="6" creationId="{00000000-0000-0000-0000-000000000000}"/>
          </ac:spMkLst>
        </pc:spChg>
        <pc:picChg chg="del mod">
          <ac:chgData name="Mani Teja" userId="1c62ac58e9914d57" providerId="LiveId" clId="{F742E588-677B-4046-AE3E-32D74EAE8C43}" dt="2026-10-02T13:27:12.089" v="59" actId="478"/>
          <ac:picMkLst>
            <pc:docMk/>
            <pc:sldMk cId="0" sldId="260"/>
            <ac:picMk id="5" creationId="{00000000-0000-0000-0000-000000000000}"/>
          </ac:picMkLst>
        </pc:picChg>
        <pc:picChg chg="add mod">
          <ac:chgData name="Mani Teja" userId="1c62ac58e9914d57" providerId="LiveId" clId="{F742E588-677B-4046-AE3E-32D74EAE8C43}" dt="2026-10-02T13:27:47.848" v="66" actId="14100"/>
          <ac:picMkLst>
            <pc:docMk/>
            <pc:sldMk cId="0" sldId="260"/>
            <ac:picMk id="9" creationId="{2D08A5D0-9C53-FF1D-5E53-EFA7DCE9A4BF}"/>
          </ac:picMkLst>
        </pc:picChg>
      </pc:sldChg>
      <pc:sldChg chg="addSp delSp modSp mod">
        <pc:chgData name="Mani Teja" userId="1c62ac58e9914d57" providerId="LiveId" clId="{F742E588-677B-4046-AE3E-32D74EAE8C43}" dt="2026-10-02T13:34:22" v="72" actId="1076"/>
        <pc:sldMkLst>
          <pc:docMk/>
          <pc:sldMk cId="0" sldId="261"/>
        </pc:sldMkLst>
        <pc:spChg chg="del">
          <ac:chgData name="Mani Teja" userId="1c62ac58e9914d57" providerId="LiveId" clId="{F742E588-677B-4046-AE3E-32D74EAE8C43}" dt="2026-10-02T13:02:03.155" v="34" actId="478"/>
          <ac:spMkLst>
            <pc:docMk/>
            <pc:sldMk cId="0" sldId="261"/>
            <ac:spMk id="5" creationId="{00000000-0000-0000-0000-000000000000}"/>
          </ac:spMkLst>
        </pc:spChg>
        <pc:spChg chg="del">
          <ac:chgData name="Mani Teja" userId="1c62ac58e9914d57" providerId="LiveId" clId="{F742E588-677B-4046-AE3E-32D74EAE8C43}" dt="2026-10-02T13:02:19.282" v="36" actId="478"/>
          <ac:spMkLst>
            <pc:docMk/>
            <pc:sldMk cId="0" sldId="261"/>
            <ac:spMk id="8" creationId="{00000000-0000-0000-0000-000000000000}"/>
          </ac:spMkLst>
        </pc:spChg>
        <pc:picChg chg="del mod">
          <ac:chgData name="Mani Teja" userId="1c62ac58e9914d57" providerId="LiveId" clId="{F742E588-677B-4046-AE3E-32D74EAE8C43}" dt="2026-10-02T13:33:03.564" v="68" actId="478"/>
          <ac:picMkLst>
            <pc:docMk/>
            <pc:sldMk cId="0" sldId="261"/>
            <ac:picMk id="6" creationId="{00000000-0000-0000-0000-000000000000}"/>
          </ac:picMkLst>
        </pc:picChg>
        <pc:picChg chg="add mod">
          <ac:chgData name="Mani Teja" userId="1c62ac58e9914d57" providerId="LiveId" clId="{F742E588-677B-4046-AE3E-32D74EAE8C43}" dt="2026-10-02T13:34:22" v="72" actId="1076"/>
          <ac:picMkLst>
            <pc:docMk/>
            <pc:sldMk cId="0" sldId="261"/>
            <ac:picMk id="11" creationId="{E47F79E3-61DC-506C-3A17-67B63367FA97}"/>
          </ac:picMkLst>
        </pc:picChg>
      </pc:sldChg>
      <pc:sldChg chg="addSp delSp modSp mod">
        <pc:chgData name="Mani Teja" userId="1c62ac58e9914d57" providerId="LiveId" clId="{F742E588-677B-4046-AE3E-32D74EAE8C43}" dt="2026-10-02T13:36:43.375" v="80" actId="14100"/>
        <pc:sldMkLst>
          <pc:docMk/>
          <pc:sldMk cId="0" sldId="262"/>
        </pc:sldMkLst>
        <pc:spChg chg="del">
          <ac:chgData name="Mani Teja" userId="1c62ac58e9914d57" providerId="LiveId" clId="{F742E588-677B-4046-AE3E-32D74EAE8C43}" dt="2026-10-02T13:02:25.125" v="38" actId="478"/>
          <ac:spMkLst>
            <pc:docMk/>
            <pc:sldMk cId="0" sldId="262"/>
            <ac:spMk id="5" creationId="{00000000-0000-0000-0000-000000000000}"/>
          </ac:spMkLst>
        </pc:spChg>
        <pc:spChg chg="del">
          <ac:chgData name="Mani Teja" userId="1c62ac58e9914d57" providerId="LiveId" clId="{F742E588-677B-4046-AE3E-32D74EAE8C43}" dt="2026-10-02T13:02:50.853" v="44" actId="478"/>
          <ac:spMkLst>
            <pc:docMk/>
            <pc:sldMk cId="0" sldId="262"/>
            <ac:spMk id="8" creationId="{00000000-0000-0000-0000-000000000000}"/>
          </ac:spMkLst>
        </pc:spChg>
        <pc:picChg chg="del mod">
          <ac:chgData name="Mani Teja" userId="1c62ac58e9914d57" providerId="LiveId" clId="{F742E588-677B-4046-AE3E-32D74EAE8C43}" dt="2026-10-02T13:36:28.067" v="73" actId="478"/>
          <ac:picMkLst>
            <pc:docMk/>
            <pc:sldMk cId="0" sldId="262"/>
            <ac:picMk id="6" creationId="{00000000-0000-0000-0000-000000000000}"/>
          </ac:picMkLst>
        </pc:picChg>
        <pc:picChg chg="add mod">
          <ac:chgData name="Mani Teja" userId="1c62ac58e9914d57" providerId="LiveId" clId="{F742E588-677B-4046-AE3E-32D74EAE8C43}" dt="2026-10-02T13:36:43.375" v="80" actId="14100"/>
          <ac:picMkLst>
            <pc:docMk/>
            <pc:sldMk cId="0" sldId="262"/>
            <ac:picMk id="11" creationId="{E91EBB36-2C08-8F08-62AB-F418846255DE}"/>
          </ac:picMkLst>
        </pc:picChg>
      </pc:sldChg>
      <pc:sldChg chg="addSp delSp modSp mod">
        <pc:chgData name="Mani Teja" userId="1c62ac58e9914d57" providerId="LiveId" clId="{F742E588-677B-4046-AE3E-32D74EAE8C43}" dt="2026-10-02T13:41:06.886" v="93" actId="14100"/>
        <pc:sldMkLst>
          <pc:docMk/>
          <pc:sldMk cId="0" sldId="263"/>
        </pc:sldMkLst>
        <pc:spChg chg="mod">
          <ac:chgData name="Mani Teja" userId="1c62ac58e9914d57" providerId="LiveId" clId="{F742E588-677B-4046-AE3E-32D74EAE8C43}" dt="2026-10-02T13:32:17.651" v="67" actId="1035"/>
          <ac:spMkLst>
            <pc:docMk/>
            <pc:sldMk cId="0" sldId="263"/>
            <ac:spMk id="2" creationId="{00000000-0000-0000-0000-000000000000}"/>
          </ac:spMkLst>
        </pc:spChg>
        <pc:spChg chg="del">
          <ac:chgData name="Mani Teja" userId="1c62ac58e9914d57" providerId="LiveId" clId="{F742E588-677B-4046-AE3E-32D74EAE8C43}" dt="2026-10-02T13:02:58.675" v="46" actId="478"/>
          <ac:spMkLst>
            <pc:docMk/>
            <pc:sldMk cId="0" sldId="263"/>
            <ac:spMk id="5" creationId="{00000000-0000-0000-0000-000000000000}"/>
          </ac:spMkLst>
        </pc:spChg>
        <pc:spChg chg="mod">
          <ac:chgData name="Mani Teja" userId="1c62ac58e9914d57" providerId="LiveId" clId="{F742E588-677B-4046-AE3E-32D74EAE8C43}" dt="2026-10-02T13:41:03.263" v="92" actId="1076"/>
          <ac:spMkLst>
            <pc:docMk/>
            <pc:sldMk cId="0" sldId="263"/>
            <ac:spMk id="7" creationId="{00000000-0000-0000-0000-000000000000}"/>
          </ac:spMkLst>
        </pc:spChg>
        <pc:spChg chg="del">
          <ac:chgData name="Mani Teja" userId="1c62ac58e9914d57" providerId="LiveId" clId="{F742E588-677B-4046-AE3E-32D74EAE8C43}" dt="2026-10-02T13:03:03.300" v="48" actId="478"/>
          <ac:spMkLst>
            <pc:docMk/>
            <pc:sldMk cId="0" sldId="263"/>
            <ac:spMk id="8" creationId="{00000000-0000-0000-0000-000000000000}"/>
          </ac:spMkLst>
        </pc:spChg>
        <pc:picChg chg="del mod">
          <ac:chgData name="Mani Teja" userId="1c62ac58e9914d57" providerId="LiveId" clId="{F742E588-677B-4046-AE3E-32D74EAE8C43}" dt="2026-10-02T13:40:53.917" v="88" actId="478"/>
          <ac:picMkLst>
            <pc:docMk/>
            <pc:sldMk cId="0" sldId="263"/>
            <ac:picMk id="6" creationId="{00000000-0000-0000-0000-000000000000}"/>
          </ac:picMkLst>
        </pc:picChg>
        <pc:picChg chg="add mod">
          <ac:chgData name="Mani Teja" userId="1c62ac58e9914d57" providerId="LiveId" clId="{F742E588-677B-4046-AE3E-32D74EAE8C43}" dt="2026-10-02T13:41:06.886" v="93" actId="14100"/>
          <ac:picMkLst>
            <pc:docMk/>
            <pc:sldMk cId="0" sldId="263"/>
            <ac:picMk id="11" creationId="{8E04D5B4-674D-522F-8D62-BA4064B651EB}"/>
          </ac:picMkLst>
        </pc:picChg>
      </pc:sldChg>
      <pc:sldChg chg="addSp delSp modSp mod">
        <pc:chgData name="Mani Teja" userId="1c62ac58e9914d57" providerId="LiveId" clId="{F742E588-677B-4046-AE3E-32D74EAE8C43}" dt="2026-10-02T13:38:31.100" v="86" actId="14100"/>
        <pc:sldMkLst>
          <pc:docMk/>
          <pc:sldMk cId="0" sldId="264"/>
        </pc:sldMkLst>
        <pc:spChg chg="del">
          <ac:chgData name="Mani Teja" userId="1c62ac58e9914d57" providerId="LiveId" clId="{F742E588-677B-4046-AE3E-32D74EAE8C43}" dt="2026-10-02T13:03:25.204" v="51" actId="478"/>
          <ac:spMkLst>
            <pc:docMk/>
            <pc:sldMk cId="0" sldId="264"/>
            <ac:spMk id="5" creationId="{00000000-0000-0000-0000-000000000000}"/>
          </ac:spMkLst>
        </pc:spChg>
        <pc:spChg chg="del">
          <ac:chgData name="Mani Teja" userId="1c62ac58e9914d57" providerId="LiveId" clId="{F742E588-677B-4046-AE3E-32D74EAE8C43}" dt="2026-10-02T13:37:29.622" v="82" actId="478"/>
          <ac:spMkLst>
            <pc:docMk/>
            <pc:sldMk cId="0" sldId="264"/>
            <ac:spMk id="8" creationId="{00000000-0000-0000-0000-000000000000}"/>
          </ac:spMkLst>
        </pc:spChg>
        <pc:picChg chg="del mod">
          <ac:chgData name="Mani Teja" userId="1c62ac58e9914d57" providerId="LiveId" clId="{F742E588-677B-4046-AE3E-32D74EAE8C43}" dt="2026-10-02T13:37:24.318" v="81" actId="478"/>
          <ac:picMkLst>
            <pc:docMk/>
            <pc:sldMk cId="0" sldId="264"/>
            <ac:picMk id="6" creationId="{00000000-0000-0000-0000-000000000000}"/>
          </ac:picMkLst>
        </pc:picChg>
        <pc:picChg chg="add mod">
          <ac:chgData name="Mani Teja" userId="1c62ac58e9914d57" providerId="LiveId" clId="{F742E588-677B-4046-AE3E-32D74EAE8C43}" dt="2026-10-02T13:38:31.100" v="86" actId="14100"/>
          <ac:picMkLst>
            <pc:docMk/>
            <pc:sldMk cId="0" sldId="264"/>
            <ac:picMk id="11" creationId="{77054101-93F4-A75B-3C13-13511ABFE4DF}"/>
          </ac:picMkLst>
        </pc:picChg>
      </pc:sldChg>
      <pc:sldChg chg="delSp modSp del mod">
        <pc:chgData name="Mani Teja" userId="1c62ac58e9914d57" providerId="LiveId" clId="{F742E588-677B-4046-AE3E-32D74EAE8C43}" dt="2026-10-02T13:39:23.113" v="87" actId="47"/>
        <pc:sldMkLst>
          <pc:docMk/>
          <pc:sldMk cId="0" sldId="265"/>
        </pc:sldMkLst>
        <pc:spChg chg="del">
          <ac:chgData name="Mani Teja" userId="1c62ac58e9914d57" providerId="LiveId" clId="{F742E588-677B-4046-AE3E-32D74EAE8C43}" dt="2026-10-02T13:06:18.187" v="54" actId="478"/>
          <ac:spMkLst>
            <pc:docMk/>
            <pc:sldMk cId="0" sldId="265"/>
            <ac:spMk id="5" creationId="{00000000-0000-0000-0000-000000000000}"/>
          </ac:spMkLst>
        </pc:spChg>
        <pc:spChg chg="mod">
          <ac:chgData name="Mani Teja" userId="1c62ac58e9914d57" providerId="LiveId" clId="{F742E588-677B-4046-AE3E-32D74EAE8C43}" dt="2026-10-02T13:06:22.367" v="56" actId="1036"/>
          <ac:spMkLst>
            <pc:docMk/>
            <pc:sldMk cId="0" sldId="265"/>
            <ac:spMk id="7" creationId="{00000000-0000-0000-0000-000000000000}"/>
          </ac:spMkLst>
        </pc:spChg>
        <pc:picChg chg="mod">
          <ac:chgData name="Mani Teja" userId="1c62ac58e9914d57" providerId="LiveId" clId="{F742E588-677B-4046-AE3E-32D74EAE8C43}" dt="2026-10-02T13:06:20.207" v="55" actId="1076"/>
          <ac:picMkLst>
            <pc:docMk/>
            <pc:sldMk cId="0" sldId="265"/>
            <ac:picMk id="6" creationId="{00000000-0000-0000-0000-000000000000}"/>
          </ac:picMkLst>
        </pc:picChg>
      </pc:sldChg>
      <pc:sldChg chg="delSp mod">
        <pc:chgData name="Mani Teja" userId="1c62ac58e9914d57" providerId="LiveId" clId="{F742E588-677B-4046-AE3E-32D74EAE8C43}" dt="2026-10-02T13:07:29.292" v="58" actId="478"/>
        <pc:sldMkLst>
          <pc:docMk/>
          <pc:sldMk cId="0" sldId="266"/>
        </pc:sldMkLst>
        <pc:spChg chg="del">
          <ac:chgData name="Mani Teja" userId="1c62ac58e9914d57" providerId="LiveId" clId="{F742E588-677B-4046-AE3E-32D74EAE8C43}" dt="2026-10-02T13:07:29.292" v="58" actId="478"/>
          <ac:spMkLst>
            <pc:docMk/>
            <pc:sldMk cId="0" sldId="266"/>
            <ac:spMk id="7" creationId="{00000000-0000-0000-0000-000000000000}"/>
          </ac:spMkLst>
        </pc:spChg>
      </pc:sldChg>
      <pc:sldChg chg="delSp mod">
        <pc:chgData name="Mani Teja" userId="1c62ac58e9914d57" providerId="LiveId" clId="{F742E588-677B-4046-AE3E-32D74EAE8C43}" dt="2026-10-02T13:06:45.129" v="57" actId="478"/>
        <pc:sldMkLst>
          <pc:docMk/>
          <pc:sldMk cId="0" sldId="267"/>
        </pc:sldMkLst>
        <pc:spChg chg="del">
          <ac:chgData name="Mani Teja" userId="1c62ac58e9914d57" providerId="LiveId" clId="{F742E588-677B-4046-AE3E-32D74EAE8C43}" dt="2026-10-02T13:06:45.129" v="57" actId="478"/>
          <ac:spMkLst>
            <pc:docMk/>
            <pc:sldMk cId="0" sldId="267"/>
            <ac:spMk id="11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CA275B-D54F-45EF-A6E4-1E1ECBD95F5D}" type="datetimeFigureOut">
              <a:rPr lang="en-IN" smtClean="0"/>
              <a:t>02-10-2026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5DF118-9A1E-47F6-88DA-1A41756B8F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2501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5DF118-9A1E-47F6-88DA-1A41756B8F6D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38183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5" y="945126"/>
            <a:ext cx="12191695" cy="6858000"/>
          </a:xfrm>
          <a:prstGeom prst="rect">
            <a:avLst/>
          </a:prstGeom>
          <a:solidFill>
            <a:srgbClr val="F4E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D6AE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97688" y="2408903"/>
            <a:ext cx="9792232" cy="7386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543025"/>
                </a:solidFill>
              </a:defRPr>
            </a:pPr>
            <a:r>
              <a:rPr dirty="0"/>
              <a:t>Coffee Quality Analytics</a:t>
            </a:r>
            <a:r>
              <a:rPr lang="en-IN" dirty="0"/>
              <a:t> </a:t>
            </a:r>
            <a:r>
              <a:rPr dirty="0"/>
              <a:t>Dashboard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20826" y="3612864"/>
            <a:ext cx="7493446" cy="22621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5F5F5F"/>
                </a:solidFill>
              </a:defRPr>
            </a:pPr>
            <a:r>
              <a:rPr dirty="0"/>
              <a:t>Analyzing coffee quality scores, origins, regions, processing methods and defects</a:t>
            </a:r>
          </a:p>
          <a:p>
            <a:pPr algn="ctr">
              <a:defRPr sz="1500">
                <a:solidFill>
                  <a:srgbClr val="5F5F5F"/>
                </a:solidFill>
              </a:defRPr>
            </a:pPr>
            <a:r>
              <a:rPr dirty="0"/>
              <a:t>Dataset: 207 coffee samples</a:t>
            </a:r>
            <a:endParaRPr lang="en-IN" dirty="0"/>
          </a:p>
          <a:p>
            <a:pPr algn="ctr">
              <a:defRPr sz="1500">
                <a:solidFill>
                  <a:srgbClr val="5F5F5F"/>
                </a:solidFill>
              </a:defRPr>
            </a:pPr>
            <a:endParaRPr lang="en-IN" dirty="0"/>
          </a:p>
          <a:p>
            <a:pPr algn="ctr">
              <a:defRPr sz="1500">
                <a:solidFill>
                  <a:srgbClr val="5F5F5F"/>
                </a:solidFill>
              </a:defRPr>
            </a:pPr>
            <a:endParaRPr lang="en-IN" dirty="0"/>
          </a:p>
          <a:p>
            <a:pPr algn="ctr">
              <a:defRPr sz="1500">
                <a:solidFill>
                  <a:srgbClr val="5F5F5F"/>
                </a:solidFill>
              </a:defRPr>
            </a:pPr>
            <a:endParaRPr lang="en-IN" dirty="0"/>
          </a:p>
          <a:p>
            <a:pPr algn="ctr">
              <a:defRPr sz="1500">
                <a:solidFill>
                  <a:srgbClr val="5F5F5F"/>
                </a:solidFill>
              </a:defRPr>
            </a:pPr>
            <a:endParaRPr lang="en-IN" dirty="0"/>
          </a:p>
          <a:p>
            <a:pPr algn="ctr">
              <a:defRPr sz="1500">
                <a:solidFill>
                  <a:srgbClr val="5F5F5F"/>
                </a:solidFill>
              </a:defRPr>
            </a:pPr>
            <a:endParaRPr lang="en-IN" dirty="0"/>
          </a:p>
          <a:p>
            <a:pPr algn="ctr">
              <a:defRPr sz="1500">
                <a:solidFill>
                  <a:srgbClr val="5F5F5F"/>
                </a:solidFill>
              </a:defRPr>
            </a:pP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10789920" y="6547104"/>
            <a:ext cx="731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5F5F"/>
                </a:solidFill>
              </a:defRPr>
            </a:pPr>
            <a:r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8A4392A-1670-FB1F-A898-41356E506B38}"/>
              </a:ext>
            </a:extLst>
          </p:cNvPr>
          <p:cNvSpPr txBox="1"/>
          <p:nvPr/>
        </p:nvSpPr>
        <p:spPr>
          <a:xfrm>
            <a:off x="462115" y="5373951"/>
            <a:ext cx="32151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Sharanya Bandi - B Tech(DS)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543025"/>
                </a:solidFill>
              </a:defRPr>
            </a:pPr>
            <a:r>
              <a:t>1. Project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332720" cy="438912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543025"/>
                </a:solidFill>
              </a:defRPr>
            </a:pPr>
            <a:r>
              <a:t>Objective: understand what factors are associated with higher coffee quality scores.</a:t>
            </a:r>
          </a:p>
          <a:p>
            <a:pPr>
              <a:spcAft>
                <a:spcPts val="1000"/>
              </a:spcAft>
              <a:defRPr sz="1900">
                <a:solidFill>
                  <a:srgbClr val="543025"/>
                </a:solidFill>
              </a:defRPr>
            </a:pPr>
            <a:r>
              <a:t>Analyze quality attributes such as Aroma, Flavor, Acidity, Body, Balance and Overall score.</a:t>
            </a:r>
          </a:p>
          <a:p>
            <a:pPr>
              <a:spcAft>
                <a:spcPts val="1000"/>
              </a:spcAft>
              <a:defRPr sz="1900">
                <a:solidFill>
                  <a:srgbClr val="543025"/>
                </a:solidFill>
              </a:defRPr>
            </a:pPr>
            <a:r>
              <a:t>Compare coffee performance across Country of Origin, Region, Variety and Processing Method.</a:t>
            </a:r>
          </a:p>
          <a:p>
            <a:pPr>
              <a:spcAft>
                <a:spcPts val="1000"/>
              </a:spcAft>
              <a:defRPr sz="1900">
                <a:solidFill>
                  <a:srgbClr val="543025"/>
                </a:solidFill>
              </a:defRPr>
            </a:pPr>
            <a:r>
              <a:t>Monitor defect categories and identify quality patterns.</a:t>
            </a:r>
          </a:p>
          <a:p>
            <a:pPr>
              <a:spcAft>
                <a:spcPts val="1000"/>
              </a:spcAft>
              <a:defRPr sz="1900">
                <a:solidFill>
                  <a:srgbClr val="543025"/>
                </a:solidFill>
              </a:defRPr>
            </a:pPr>
            <a:r>
              <a:t>Present the results through an interactive Power BI-style dashboard.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547104"/>
            <a:ext cx="731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5F5F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543025"/>
                </a:solidFill>
              </a:defRPr>
            </a:pPr>
            <a:r>
              <a:t>2. Dataset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6868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F5F5F"/>
                </a:solidFill>
              </a:defRPr>
            </a:pPr>
            <a:r>
              <a:t>Structure of the Coffee Quality dataset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25880"/>
            <a:ext cx="1993392" cy="1051560"/>
          </a:xfrm>
          <a:prstGeom prst="roundRect">
            <a:avLst/>
          </a:prstGeom>
          <a:solidFill>
            <a:srgbClr val="EFE2D2"/>
          </a:solidFill>
          <a:ln>
            <a:solidFill>
              <a:srgbClr val="CDC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500" b="1">
                <a:solidFill>
                  <a:srgbClr val="543025"/>
                </a:solidFill>
              </a:rPr>
              <a:t>207</a:t>
            </a:r>
          </a:p>
          <a:p>
            <a:pPr algn="ctr"/>
            <a:r>
              <a:rPr sz="1000">
                <a:solidFill>
                  <a:srgbClr val="5F5F5F"/>
                </a:solidFill>
              </a:rPr>
              <a:t>Samples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07791" y="1325880"/>
            <a:ext cx="1993392" cy="1051560"/>
          </a:xfrm>
          <a:prstGeom prst="roundRect">
            <a:avLst/>
          </a:prstGeom>
          <a:solidFill>
            <a:srgbClr val="E7DEE8"/>
          </a:solidFill>
          <a:ln>
            <a:solidFill>
              <a:srgbClr val="CDC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500" b="1">
                <a:solidFill>
                  <a:srgbClr val="543025"/>
                </a:solidFill>
              </a:rPr>
              <a:t>31</a:t>
            </a:r>
          </a:p>
          <a:p>
            <a:pPr algn="ctr"/>
            <a:r>
              <a:rPr sz="1000">
                <a:solidFill>
                  <a:srgbClr val="5F5F5F"/>
                </a:solidFill>
              </a:rPr>
              <a:t>Columns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75504" y="1325880"/>
            <a:ext cx="1993392" cy="1051560"/>
          </a:xfrm>
          <a:prstGeom prst="roundRect">
            <a:avLst/>
          </a:prstGeom>
          <a:solidFill>
            <a:srgbClr val="E0EDDA"/>
          </a:solidFill>
          <a:ln>
            <a:solidFill>
              <a:srgbClr val="CDC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500" b="1">
                <a:solidFill>
                  <a:srgbClr val="543025"/>
                </a:solidFill>
              </a:rPr>
              <a:t>22</a:t>
            </a:r>
          </a:p>
          <a:p>
            <a:pPr algn="ctr"/>
            <a:r>
              <a:rPr sz="1000">
                <a:solidFill>
                  <a:srgbClr val="5F5F5F"/>
                </a:solidFill>
              </a:rPr>
              <a:t>Countries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43215" y="1325880"/>
            <a:ext cx="1993392" cy="1051560"/>
          </a:xfrm>
          <a:prstGeom prst="roundRect">
            <a:avLst/>
          </a:prstGeom>
          <a:solidFill>
            <a:srgbClr val="DCEDEF"/>
          </a:solidFill>
          <a:ln>
            <a:solidFill>
              <a:srgbClr val="CDC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500" b="1">
                <a:solidFill>
                  <a:srgbClr val="543025"/>
                </a:solidFill>
              </a:rPr>
              <a:t>120</a:t>
            </a:r>
          </a:p>
          <a:p>
            <a:pPr algn="ctr"/>
            <a:r>
              <a:rPr sz="1000">
                <a:solidFill>
                  <a:srgbClr val="5F5F5F"/>
                </a:solidFill>
              </a:rPr>
              <a:t>Regions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710928" y="1325880"/>
            <a:ext cx="1993392" cy="1051560"/>
          </a:xfrm>
          <a:prstGeom prst="roundRect">
            <a:avLst/>
          </a:prstGeom>
          <a:solidFill>
            <a:srgbClr val="E9E8D5"/>
          </a:solidFill>
          <a:ln>
            <a:solidFill>
              <a:srgbClr val="CDC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500" b="1">
                <a:solidFill>
                  <a:srgbClr val="543025"/>
                </a:solidFill>
              </a:rPr>
              <a:t>10</a:t>
            </a:r>
          </a:p>
          <a:p>
            <a:pPr algn="ctr"/>
            <a:r>
              <a:rPr sz="1000">
                <a:solidFill>
                  <a:srgbClr val="5F5F5F"/>
                </a:solidFill>
              </a:rPr>
              <a:t>Processing methods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834640"/>
            <a:ext cx="10515600" cy="301752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543025"/>
                </a:solidFill>
              </a:defRPr>
            </a:pPr>
            <a:r>
              <a:t>Geography: Country of Origin, Region, Altitude</a:t>
            </a:r>
          </a:p>
          <a:p>
            <a:pPr>
              <a:spcAft>
                <a:spcPts val="1000"/>
              </a:spcAft>
              <a:defRPr sz="1700">
                <a:solidFill>
                  <a:srgbClr val="543025"/>
                </a:solidFill>
              </a:defRPr>
            </a:pPr>
            <a:r>
              <a:t>Coffee details: Variety, Harvest Year, Processing Method</a:t>
            </a:r>
          </a:p>
          <a:p>
            <a:pPr>
              <a:spcAft>
                <a:spcPts val="1000"/>
              </a:spcAft>
              <a:defRPr sz="1700">
                <a:solidFill>
                  <a:srgbClr val="543025"/>
                </a:solidFill>
              </a:defRPr>
            </a:pPr>
            <a:r>
              <a:t>Quality scores: Aroma, Flavor, Aftertaste, Acidity, Body, Balance</a:t>
            </a:r>
          </a:p>
          <a:p>
            <a:pPr>
              <a:spcAft>
                <a:spcPts val="1000"/>
              </a:spcAft>
              <a:defRPr sz="1700">
                <a:solidFill>
                  <a:srgbClr val="543025"/>
                </a:solidFill>
              </a:defRPr>
            </a:pPr>
            <a:r>
              <a:t>Quality totals: Overall, Total Cup Points, Defects</a:t>
            </a:r>
          </a:p>
          <a:p>
            <a:pPr>
              <a:spcAft>
                <a:spcPts val="1000"/>
              </a:spcAft>
              <a:defRPr sz="1700">
                <a:solidFill>
                  <a:srgbClr val="543025"/>
                </a:solidFill>
              </a:defRPr>
            </a:pPr>
            <a:r>
              <a:t>Defect indicators: Category One Defects, Category Two Defects, Quakers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0" y="6547104"/>
            <a:ext cx="731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5F5F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543025"/>
                </a:solidFill>
              </a:defRPr>
            </a:pPr>
            <a:r>
              <a:t>3. KPI Summary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417320"/>
            <a:ext cx="3154680" cy="1371600"/>
          </a:xfrm>
          <a:prstGeom prst="roundRect">
            <a:avLst/>
          </a:prstGeom>
          <a:solidFill>
            <a:srgbClr val="F8E7DE"/>
          </a:solidFill>
          <a:ln>
            <a:solidFill>
              <a:srgbClr val="CDC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500" b="1">
                <a:solidFill>
                  <a:srgbClr val="543025"/>
                </a:solidFill>
              </a:rPr>
              <a:t>207</a:t>
            </a:r>
          </a:p>
          <a:p>
            <a:pPr algn="ctr"/>
            <a:r>
              <a:rPr sz="1000">
                <a:solidFill>
                  <a:srgbClr val="5F5F5F"/>
                </a:solidFill>
              </a:rPr>
              <a:t>Total Sample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17720" y="1417320"/>
            <a:ext cx="3154680" cy="1371600"/>
          </a:xfrm>
          <a:prstGeom prst="roundRect">
            <a:avLst/>
          </a:prstGeom>
          <a:solidFill>
            <a:srgbClr val="E7DAE2"/>
          </a:solidFill>
          <a:ln>
            <a:solidFill>
              <a:srgbClr val="CDC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500" b="1">
                <a:solidFill>
                  <a:srgbClr val="543025"/>
                </a:solidFill>
              </a:rPr>
              <a:t>83.71</a:t>
            </a:r>
          </a:p>
          <a:p>
            <a:pPr algn="ctr"/>
            <a:r>
              <a:rPr sz="1000">
                <a:solidFill>
                  <a:srgbClr val="5F5F5F"/>
                </a:solidFill>
              </a:rPr>
              <a:t>Avg. Total Cup Points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321040" y="1417320"/>
            <a:ext cx="3154680" cy="1371600"/>
          </a:xfrm>
          <a:prstGeom prst="roundRect">
            <a:avLst/>
          </a:prstGeom>
          <a:solidFill>
            <a:srgbClr val="E5EFDA"/>
          </a:solidFill>
          <a:ln>
            <a:solidFill>
              <a:srgbClr val="CDC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500" b="1">
                <a:solidFill>
                  <a:srgbClr val="543025"/>
                </a:solidFill>
              </a:rPr>
              <a:t>7.68</a:t>
            </a:r>
          </a:p>
          <a:p>
            <a:pPr algn="ctr"/>
            <a:r>
              <a:rPr sz="1000">
                <a:solidFill>
                  <a:srgbClr val="5F5F5F"/>
                </a:solidFill>
              </a:rPr>
              <a:t>Avg. Overall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3383280"/>
            <a:ext cx="3154680" cy="1371600"/>
          </a:xfrm>
          <a:prstGeom prst="roundRect">
            <a:avLst/>
          </a:prstGeom>
          <a:solidFill>
            <a:srgbClr val="D8ECEF"/>
          </a:solidFill>
          <a:ln>
            <a:solidFill>
              <a:srgbClr val="CDC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500" b="1">
                <a:solidFill>
                  <a:srgbClr val="543025"/>
                </a:solidFill>
              </a:rPr>
              <a:t>7.72</a:t>
            </a:r>
          </a:p>
          <a:p>
            <a:pPr algn="ctr"/>
            <a:r>
              <a:rPr sz="1000">
                <a:solidFill>
                  <a:srgbClr val="5F5F5F"/>
                </a:solidFill>
              </a:rPr>
              <a:t>Avg. Aroma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17720" y="3383280"/>
            <a:ext cx="3154680" cy="1371600"/>
          </a:xfrm>
          <a:prstGeom prst="roundRect">
            <a:avLst/>
          </a:prstGeom>
          <a:solidFill>
            <a:srgbClr val="E8E8D6"/>
          </a:solidFill>
          <a:ln>
            <a:solidFill>
              <a:srgbClr val="CDC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500" b="1">
                <a:solidFill>
                  <a:srgbClr val="543025"/>
                </a:solidFill>
              </a:rPr>
              <a:t>7.74</a:t>
            </a:r>
          </a:p>
          <a:p>
            <a:pPr algn="ctr"/>
            <a:r>
              <a:rPr sz="1000">
                <a:solidFill>
                  <a:srgbClr val="5F5F5F"/>
                </a:solidFill>
              </a:rPr>
              <a:t>Avg. Flavor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21040" y="3383280"/>
            <a:ext cx="3154680" cy="1371600"/>
          </a:xfrm>
          <a:prstGeom prst="roundRect">
            <a:avLst/>
          </a:prstGeom>
          <a:solidFill>
            <a:srgbClr val="EDDEED"/>
          </a:solidFill>
          <a:ln>
            <a:solidFill>
              <a:srgbClr val="CDC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500" b="1">
                <a:solidFill>
                  <a:srgbClr val="543025"/>
                </a:solidFill>
              </a:rPr>
              <a:t>0</a:t>
            </a:r>
          </a:p>
          <a:p>
            <a:pPr algn="ctr"/>
            <a:r>
              <a:rPr sz="1000">
                <a:solidFill>
                  <a:srgbClr val="5F5F5F"/>
                </a:solidFill>
              </a:rPr>
              <a:t>Total Defects score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0" y="6547104"/>
            <a:ext cx="731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5F5F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543025"/>
                </a:solidFill>
              </a:defRPr>
            </a:pPr>
            <a:r>
              <a:t>4. Power BI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6868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F5F5F"/>
                </a:solidFill>
              </a:defRPr>
            </a:pPr>
            <a:r>
              <a:t>Interactive dashboard designed for quality, origin and process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547104"/>
            <a:ext cx="731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5F5F"/>
                </a:solidFill>
              </a:defRPr>
            </a:pPr>
            <a:r>
              <a:t>5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D08A5D0-9C53-FF1D-5E53-EFA7DCE9A4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0981" y="1234440"/>
            <a:ext cx="8849032" cy="50829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543025"/>
                </a:solidFill>
              </a:defRPr>
            </a:pPr>
            <a:r>
              <a:t>5. Quality Attribute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6868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F5F5F"/>
                </a:solidFill>
              </a:defRPr>
            </a:pPr>
            <a:r>
              <a:rPr dirty="0"/>
              <a:t>Average scores across the main cup-quality attributes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18120" y="1417320"/>
            <a:ext cx="3566160" cy="448056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543025"/>
                </a:solidFill>
              </a:defRPr>
            </a:pPr>
            <a:r>
              <a:t>Clean Cup, Sweetness and Uniformity are at approximately 10.0 on average.</a:t>
            </a:r>
          </a:p>
          <a:p>
            <a:pPr>
              <a:spcAft>
                <a:spcPts val="1000"/>
              </a:spcAft>
              <a:defRPr sz="1600">
                <a:solidFill>
                  <a:srgbClr val="543025"/>
                </a:solidFill>
              </a:defRPr>
            </a:pPr>
            <a:r>
              <a:t>Aroma averages 7.72 and Flavor averages 7.74.</a:t>
            </a:r>
          </a:p>
          <a:p>
            <a:pPr>
              <a:spcAft>
                <a:spcPts val="1000"/>
              </a:spcAft>
              <a:defRPr sz="1600">
                <a:solidFill>
                  <a:srgbClr val="543025"/>
                </a:solidFill>
              </a:defRPr>
            </a:pPr>
            <a:r>
              <a:t>Overall quality averages 7.68.</a:t>
            </a:r>
          </a:p>
          <a:p>
            <a:pPr>
              <a:spcAft>
                <a:spcPts val="1000"/>
              </a:spcAft>
              <a:defRPr sz="1600">
                <a:solidFill>
                  <a:srgbClr val="543025"/>
                </a:solidFill>
              </a:defRPr>
            </a:pPr>
            <a:r>
              <a:t>The attribute profile shows consistently strong cup-quality scores.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547104"/>
            <a:ext cx="731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5F5F"/>
                </a:solidFill>
              </a:defRPr>
            </a:pPr>
            <a:r>
              <a:t>6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47F79E3-61DC-506C-3A17-67B63367FA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1907" y="1417320"/>
            <a:ext cx="6215469" cy="433787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543025"/>
                </a:solidFill>
              </a:defRPr>
            </a:pPr>
            <a:r>
              <a:t>6. Origin &amp; Regional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6868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F5F5F"/>
                </a:solidFill>
              </a:defRPr>
            </a:pPr>
            <a:r>
              <a:t>Comparing average Total Cup Points across origins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35240" y="1325880"/>
            <a:ext cx="3657600" cy="45720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543025"/>
                </a:solidFill>
              </a:defRPr>
            </a:pPr>
            <a:r>
              <a:rPr dirty="0"/>
              <a:t>The dataset contains 22 countries and 120 regions.</a:t>
            </a:r>
          </a:p>
          <a:p>
            <a:pPr>
              <a:spcAft>
                <a:spcPts val="1000"/>
              </a:spcAft>
              <a:defRPr sz="1500">
                <a:solidFill>
                  <a:srgbClr val="543025"/>
                </a:solidFill>
              </a:defRPr>
            </a:pPr>
            <a:r>
              <a:rPr dirty="0"/>
              <a:t>Among the displayed leading origins, Ethiopia has the highest average at about 84.96.</a:t>
            </a:r>
          </a:p>
          <a:p>
            <a:pPr>
              <a:spcAft>
                <a:spcPts val="1000"/>
              </a:spcAft>
              <a:defRPr sz="1500">
                <a:solidFill>
                  <a:srgbClr val="543025"/>
                </a:solidFill>
              </a:defRPr>
            </a:pPr>
            <a:r>
              <a:rPr dirty="0"/>
              <a:t>Regional filters in the dashboard allow users to drill down from country to specific producing regions.</a:t>
            </a:r>
          </a:p>
          <a:p>
            <a:pPr>
              <a:spcAft>
                <a:spcPts val="1000"/>
              </a:spcAft>
              <a:defRPr sz="1500">
                <a:solidFill>
                  <a:srgbClr val="543025"/>
                </a:solidFill>
              </a:defRPr>
            </a:pPr>
            <a:r>
              <a:rPr dirty="0"/>
              <a:t>The highest individual sample is from Colombia, </a:t>
            </a:r>
            <a:r>
              <a:rPr dirty="0" err="1"/>
              <a:t>Piendamo</a:t>
            </a:r>
            <a:r>
              <a:rPr dirty="0"/>
              <a:t>, Cauca.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547104"/>
            <a:ext cx="731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5F5F"/>
                </a:solidFill>
              </a:defRPr>
            </a:pPr>
            <a:r>
              <a:t>7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91EBB36-2C08-8F08-62AB-F418846255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388" y="1303376"/>
            <a:ext cx="5944012" cy="457199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543025"/>
                </a:solidFill>
              </a:defRPr>
            </a:pPr>
            <a:r>
              <a:t>7. Processing Method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6868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F5F5F"/>
                </a:solidFill>
              </a:defRPr>
            </a:pPr>
            <a:r>
              <a:t>How processing methods relate to average cup quality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77894" y="1325880"/>
            <a:ext cx="3657600" cy="45720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543025"/>
                </a:solidFill>
              </a:defRPr>
            </a:pPr>
            <a:r>
              <a:t>Washed / Wet is the most common processing method in the dataset.</a:t>
            </a:r>
          </a:p>
          <a:p>
            <a:pPr>
              <a:spcAft>
                <a:spcPts val="1000"/>
              </a:spcAft>
              <a:defRPr sz="1500">
                <a:solidFill>
                  <a:srgbClr val="543025"/>
                </a:solidFill>
              </a:defRPr>
            </a:pPr>
            <a:r>
              <a:t>Among methods with at least 3 observations, Natural / Dry has the highest average shown.</a:t>
            </a:r>
          </a:p>
          <a:p>
            <a:pPr>
              <a:spcAft>
                <a:spcPts val="1000"/>
              </a:spcAft>
              <a:defRPr sz="1500">
                <a:solidFill>
                  <a:srgbClr val="543025"/>
                </a:solidFill>
              </a:defRPr>
            </a:pPr>
            <a:r>
              <a:t>Processing method should be interpreted together with origin, variety and sample size.</a:t>
            </a:r>
          </a:p>
          <a:p>
            <a:pPr>
              <a:spcAft>
                <a:spcPts val="1000"/>
              </a:spcAft>
              <a:defRPr sz="1500">
                <a:solidFill>
                  <a:srgbClr val="543025"/>
                </a:solidFill>
              </a:defRPr>
            </a:pPr>
            <a:r>
              <a:t>The dashboard supports interactive comparison of processing methods.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547104"/>
            <a:ext cx="731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5F5F"/>
                </a:solidFill>
              </a:defRPr>
            </a:pPr>
            <a:r>
              <a:t>8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E04D5B4-674D-522F-8D62-BA4064B651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709" y="1568599"/>
            <a:ext cx="6514336" cy="442072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543025"/>
                </a:solidFill>
              </a:defRPr>
            </a:pPr>
            <a:r>
              <a:t>8. Defect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6868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F5F5F"/>
                </a:solidFill>
              </a:defRPr>
            </a:pPr>
            <a:r>
              <a:t>Category-level defect indicators in the dataset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26679" y="1417320"/>
            <a:ext cx="3566160" cy="438912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543025"/>
                </a:solidFill>
              </a:defRPr>
            </a:pPr>
            <a:r>
              <a:t>Category One Defects total: 28.</a:t>
            </a:r>
          </a:p>
          <a:p>
            <a:pPr>
              <a:spcAft>
                <a:spcPts val="1000"/>
              </a:spcAft>
              <a:defRPr sz="1500">
                <a:solidFill>
                  <a:srgbClr val="543025"/>
                </a:solidFill>
              </a:defRPr>
            </a:pPr>
            <a:r>
              <a:t>Category Two Defects total: 466.</a:t>
            </a:r>
          </a:p>
          <a:p>
            <a:pPr>
              <a:spcAft>
                <a:spcPts val="1000"/>
              </a:spcAft>
              <a:defRPr sz="1500">
                <a:solidFill>
                  <a:srgbClr val="543025"/>
                </a:solidFill>
              </a:defRPr>
            </a:pPr>
            <a:r>
              <a:t>Quakers total: 143.</a:t>
            </a:r>
          </a:p>
          <a:p>
            <a:pPr>
              <a:spcAft>
                <a:spcPts val="1000"/>
              </a:spcAft>
              <a:defRPr sz="1500">
                <a:solidFill>
                  <a:srgbClr val="543025"/>
                </a:solidFill>
              </a:defRPr>
            </a:pPr>
            <a:r>
              <a:t>The separate Defects score column is 0 for all 207 records.</a:t>
            </a:r>
          </a:p>
          <a:p>
            <a:pPr>
              <a:spcAft>
                <a:spcPts val="1000"/>
              </a:spcAft>
              <a:defRPr sz="1500">
                <a:solidFill>
                  <a:srgbClr val="543025"/>
                </a:solidFill>
              </a:defRPr>
            </a:pPr>
            <a:r>
              <a:t>This distinction is important when interpreting the dashboard KPI.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547104"/>
            <a:ext cx="731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5F5F"/>
                </a:solidFill>
              </a:defRPr>
            </a:pPr>
            <a:r>
              <a:t>9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7054101-93F4-A75B-3C13-13511ABFE4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1632" y="1554011"/>
            <a:ext cx="5029000" cy="468183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543025"/>
                </a:solidFill>
              </a:defRPr>
            </a:pPr>
            <a:r>
              <a:t>10. Top-Ranked Sample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6868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F5F5F"/>
                </a:solidFill>
              </a:defRPr>
            </a:pPr>
            <a:r>
              <a:t>Highest Total Cup Points in the available dataset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34440"/>
            <a:ext cx="10698480" cy="1508760"/>
          </a:xfrm>
          <a:prstGeom prst="roundRect">
            <a:avLst/>
          </a:prstGeom>
          <a:solidFill>
            <a:srgbClr val="F6E7D7"/>
          </a:solidFill>
          <a:ln>
            <a:solidFill>
              <a:srgbClr val="EFE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 b="1">
                <a:solidFill>
                  <a:srgbClr val="543025"/>
                </a:solidFill>
              </a:defRPr>
            </a:pPr>
            <a:r>
              <a:t>89.33 Total Cup Points</a:t>
            </a:r>
          </a:p>
          <a:p>
            <a:pPr algn="ctr">
              <a:defRPr sz="1400">
                <a:solidFill>
                  <a:srgbClr val="5F5F5F"/>
                </a:solidFill>
              </a:defRPr>
            </a:pPr>
            <a:r>
              <a:t>Colombia • Piendamo,Cauca • Castillo • Double Anaerobic Washed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3063240"/>
          <a:ext cx="10698480" cy="2423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96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96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396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396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3969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038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Rank</a:t>
                      </a:r>
                    </a:p>
                  </a:txBody>
                  <a:tcPr marL="54864" marR="54864">
                    <a:solidFill>
                      <a:srgbClr val="5430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Country</a:t>
                      </a:r>
                    </a:p>
                  </a:txBody>
                  <a:tcPr marL="54864" marR="54864">
                    <a:solidFill>
                      <a:srgbClr val="5430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Region</a:t>
                      </a:r>
                    </a:p>
                  </a:txBody>
                  <a:tcPr marL="54864" marR="54864">
                    <a:solidFill>
                      <a:srgbClr val="5430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Variety</a:t>
                      </a:r>
                    </a:p>
                  </a:txBody>
                  <a:tcPr marL="54864" marR="54864">
                    <a:solidFill>
                      <a:srgbClr val="5430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Total Cup Points</a:t>
                      </a:r>
                    </a:p>
                  </a:txBody>
                  <a:tcPr marL="54864" marR="54864">
                    <a:solidFill>
                      <a:srgbClr val="54302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38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43025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marL="54864" marR="54864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43025"/>
                          </a:solidFill>
                        </a:defRPr>
                      </a:pPr>
                      <a:r>
                        <a:t>Colombia</a:t>
                      </a:r>
                    </a:p>
                  </a:txBody>
                  <a:tcPr marL="54864" marR="54864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43025"/>
                          </a:solidFill>
                        </a:defRPr>
                      </a:pPr>
                      <a:r>
                        <a:t>Piendamo,Cauca</a:t>
                      </a:r>
                    </a:p>
                  </a:txBody>
                  <a:tcPr marL="54864" marR="54864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43025"/>
                          </a:solidFill>
                        </a:defRPr>
                      </a:pPr>
                      <a:r>
                        <a:t>Castillo</a:t>
                      </a:r>
                    </a:p>
                  </a:txBody>
                  <a:tcPr marL="54864" marR="54864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43025"/>
                          </a:solidFill>
                        </a:defRPr>
                      </a:pPr>
                      <a:r>
                        <a:t>89.33</a:t>
                      </a:r>
                    </a:p>
                  </a:txBody>
                  <a:tcPr marL="54864" marR="54864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38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43025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marL="54864" marR="54864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43025"/>
                          </a:solidFill>
                        </a:defRPr>
                      </a:pPr>
                      <a:r>
                        <a:t>Taiwan</a:t>
                      </a:r>
                    </a:p>
                  </a:txBody>
                  <a:tcPr marL="54864" marR="54864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43025"/>
                          </a:solidFill>
                        </a:defRPr>
                      </a:pPr>
                      <a:r>
                        <a:t>Chiayi</a:t>
                      </a:r>
                    </a:p>
                  </a:txBody>
                  <a:tcPr marL="54864" marR="54864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43025"/>
                          </a:solidFill>
                        </a:defRPr>
                      </a:pPr>
                      <a:r>
                        <a:t>Gesha</a:t>
                      </a:r>
                    </a:p>
                  </a:txBody>
                  <a:tcPr marL="54864" marR="54864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43025"/>
                          </a:solidFill>
                        </a:defRPr>
                      </a:pPr>
                      <a:r>
                        <a:t>87.58</a:t>
                      </a:r>
                    </a:p>
                  </a:txBody>
                  <a:tcPr marL="54864" marR="54864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38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43025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marL="54864" marR="54864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43025"/>
                          </a:solidFill>
                        </a:defRPr>
                      </a:pPr>
                      <a:r>
                        <a:t>Laos</a:t>
                      </a:r>
                    </a:p>
                  </a:txBody>
                  <a:tcPr marL="54864" marR="54864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43025"/>
                          </a:solidFill>
                        </a:defRPr>
                      </a:pPr>
                      <a:r>
                        <a:t>Laos Borofen Plateau</a:t>
                      </a:r>
                    </a:p>
                  </a:txBody>
                  <a:tcPr marL="54864" marR="54864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43025"/>
                          </a:solidFill>
                        </a:defRPr>
                      </a:pPr>
                      <a:r>
                        <a:t>Java</a:t>
                      </a:r>
                    </a:p>
                  </a:txBody>
                  <a:tcPr marL="54864" marR="54864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43025"/>
                          </a:solidFill>
                        </a:defRPr>
                      </a:pPr>
                      <a:r>
                        <a:t>87.42</a:t>
                      </a:r>
                    </a:p>
                  </a:txBody>
                  <a:tcPr marL="54864" marR="54864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38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43025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marL="54864" marR="54864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43025"/>
                          </a:solidFill>
                        </a:defRPr>
                      </a:pPr>
                      <a:r>
                        <a:t>Costa Rica</a:t>
                      </a:r>
                    </a:p>
                  </a:txBody>
                  <a:tcPr marL="54864" marR="54864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43025"/>
                          </a:solidFill>
                        </a:defRPr>
                      </a:pPr>
                      <a:r>
                        <a:t>Los Santos,Tarrazu</a:t>
                      </a:r>
                    </a:p>
                  </a:txBody>
                  <a:tcPr marL="54864" marR="54864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43025"/>
                          </a:solidFill>
                        </a:defRPr>
                      </a:pPr>
                      <a:r>
                        <a:t>Gesha</a:t>
                      </a:r>
                    </a:p>
                  </a:txBody>
                  <a:tcPr marL="54864" marR="54864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43025"/>
                          </a:solidFill>
                        </a:defRPr>
                      </a:pPr>
                      <a:r>
                        <a:t>87.17</a:t>
                      </a:r>
                    </a:p>
                  </a:txBody>
                  <a:tcPr marL="54864" marR="54864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38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43025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marL="54864" marR="54864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43025"/>
                          </a:solidFill>
                        </a:defRPr>
                      </a:pPr>
                      <a:r>
                        <a:t>Colombia</a:t>
                      </a:r>
                    </a:p>
                  </a:txBody>
                  <a:tcPr marL="54864" marR="54864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43025"/>
                          </a:solidFill>
                        </a:defRPr>
                      </a:pPr>
                      <a:r>
                        <a:t>Popayan,Cauca</a:t>
                      </a:r>
                    </a:p>
                  </a:txBody>
                  <a:tcPr marL="54864" marR="54864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43025"/>
                          </a:solidFill>
                        </a:defRPr>
                      </a:pPr>
                      <a:r>
                        <a:t>Red Bourbon</a:t>
                      </a:r>
                    </a:p>
                  </a:txBody>
                  <a:tcPr marL="54864" marR="54864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43025"/>
                          </a:solidFill>
                        </a:defRPr>
                      </a:pPr>
                      <a:r>
                        <a:t>87.08</a:t>
                      </a:r>
                    </a:p>
                  </a:txBody>
                  <a:tcPr marL="54864" marR="54864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0789920" y="6547104"/>
            <a:ext cx="731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5F5F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543025"/>
                </a:solidFill>
              </a:defRPr>
            </a:pPr>
            <a:r>
              <a:t>11. Key Insights &amp;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6868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F5F5F"/>
                </a:solidFill>
              </a:defRPr>
            </a:pPr>
            <a:r>
              <a:rPr dirty="0"/>
              <a:t>What the analysis tells us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507492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FE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55448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B05B2B"/>
                </a:solidFill>
              </a:defRPr>
            </a:pPr>
            <a:r>
              <a:t>Key Findings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057400"/>
            <a:ext cx="4572000" cy="34290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543025"/>
                </a:solidFill>
              </a:defRPr>
            </a:pPr>
            <a:r>
              <a:t>207 samples were analyzed across 22 countries and 120 regions.</a:t>
            </a:r>
          </a:p>
          <a:p>
            <a:pPr>
              <a:spcAft>
                <a:spcPts val="1000"/>
              </a:spcAft>
              <a:defRPr sz="1500">
                <a:solidFill>
                  <a:srgbClr val="543025"/>
                </a:solidFill>
              </a:defRPr>
            </a:pPr>
            <a:r>
              <a:t>Average Total Cup Points = 83.71; Average Overall = 7.68.</a:t>
            </a:r>
          </a:p>
          <a:p>
            <a:pPr>
              <a:spcAft>
                <a:spcPts val="1000"/>
              </a:spcAft>
              <a:defRPr sz="1500">
                <a:solidFill>
                  <a:srgbClr val="543025"/>
                </a:solidFill>
              </a:defRPr>
            </a:pPr>
            <a:r>
              <a:t>Flavor, Acidity, Aroma and Body have strong positive relationships with Total Cup Points.</a:t>
            </a:r>
          </a:p>
          <a:p>
            <a:pPr>
              <a:spcAft>
                <a:spcPts val="1000"/>
              </a:spcAft>
              <a:defRPr sz="1500">
                <a:solidFill>
                  <a:srgbClr val="543025"/>
                </a:solidFill>
              </a:defRPr>
            </a:pPr>
            <a:r>
              <a:t>Category-level defect counts exist even though the overall Defects field is 0.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25880"/>
            <a:ext cx="507492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FE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46520" y="155448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B05B2B"/>
                </a:solidFill>
              </a:defRPr>
            </a:pPr>
            <a:r>
              <a:t>Next Steps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057400"/>
            <a:ext cx="4572000" cy="34290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543025"/>
                </a:solidFill>
              </a:defRPr>
            </a:pPr>
            <a:r>
              <a:t>Power BI makes it easy to filter by country, region, processing method, variety and harvest year.</a:t>
            </a:r>
          </a:p>
          <a:p>
            <a:pPr>
              <a:spcAft>
                <a:spcPts val="1000"/>
              </a:spcAft>
              <a:defRPr sz="1500">
                <a:solidFill>
                  <a:srgbClr val="543025"/>
                </a:solidFill>
              </a:defRPr>
            </a:pPr>
            <a:r>
              <a:t>The dashboard supports quality benchmarking and exploratory comparison.</a:t>
            </a:r>
          </a:p>
          <a:p>
            <a:pPr>
              <a:spcAft>
                <a:spcPts val="1000"/>
              </a:spcAft>
              <a:defRPr sz="1500">
                <a:solidFill>
                  <a:srgbClr val="543025"/>
                </a:solidFill>
              </a:defRPr>
            </a:pPr>
            <a:r>
              <a:t>Future work: add time-series analysis, sample-size-aware comparisons and predictive quality modeling.</a:t>
            </a:r>
          </a:p>
          <a:p>
            <a:pPr>
              <a:spcAft>
                <a:spcPts val="1000"/>
              </a:spcAft>
              <a:defRPr sz="1500">
                <a:solidFill>
                  <a:srgbClr val="543025"/>
                </a:solidFill>
              </a:defRPr>
            </a:pPr>
            <a:r>
              <a:t>Potential extension: build a regression model to estimate Total Cup Points from sensory and production features.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0" y="6547104"/>
            <a:ext cx="731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5F5F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659</Words>
  <Application>Microsoft Office PowerPoint</Application>
  <PresentationFormat>Widescreen</PresentationFormat>
  <Paragraphs>143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Mani Teja</cp:lastModifiedBy>
  <cp:revision>1</cp:revision>
  <dcterms:created xsi:type="dcterms:W3CDTF">2013-01-27T09:14:16Z</dcterms:created>
  <dcterms:modified xsi:type="dcterms:W3CDTF">2026-10-02T13:50:50Z</dcterms:modified>
  <cp:category/>
</cp:coreProperties>
</file>